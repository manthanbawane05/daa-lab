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640080"/>
            <a:ext cx="2011680" cy="2011680"/>
          </a:xfrm>
          <a:prstGeom prst="ellipse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2286000"/>
            <a:ext cx="1097280" cy="1097280"/>
          </a:xfrm>
          <a:prstGeom prst="ellipse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3931920"/>
            <a:ext cx="1371600" cy="1371600"/>
          </a:xfrm>
          <a:prstGeom prst="ellipse">
            <a:avLst/>
          </a:prstGeom>
          <a:solidFill>
            <a:srgbClr val="F5B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4572000"/>
            <a:ext cx="548640" cy="548640"/>
          </a:xfrm>
          <a:prstGeom prst="ellipse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7863840" cy="7772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PRIM’S ALGORITHM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7498079" cy="5486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2300" b="0">
                <a:solidFill>
                  <a:srgbClr val="BED8F5"/>
                </a:solidFill>
                <a:latin typeface="Aptos"/>
              </a:rPr>
              <a:t>Finding a Minimum Spanning Tree in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7132320" cy="9601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A step-by-step explanation of the idea, example, and implementation using an adjacency matrix.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4572000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400" b="1">
                <a:solidFill>
                  <a:srgbClr val="BED8F5"/>
                </a:solidFill>
                <a:latin typeface="Aptos"/>
              </a:rPr>
              <a:t>Data Structures &amp; Algorithms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263640"/>
            <a:ext cx="45720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2800" b="1">
                <a:solidFill>
                  <a:srgbClr val="142444"/>
                </a:solidFill>
                <a:latin typeface="Aptos"/>
              </a:rPr>
              <a:t>What is a Minimum Spanning Tree?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50976"/>
            <a:ext cx="1143000" cy="54864"/>
          </a:xfrm>
          <a:prstGeom prst="rect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329184"/>
            <a:ext cx="502920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/>
            <a:r>
              <a:rPr sz="1300" b="1">
                <a:solidFill>
                  <a:srgbClr val="5F6C7D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900" b="1">
                <a:solidFill>
                  <a:srgbClr val="5F6C7D"/>
                </a:solidFill>
                <a:latin typeface="Aptos"/>
              </a:rPr>
              <a:t>PRIM'S ALGORITHM  •  MINIMUM SPANNING TREE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82296" cy="182880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90472"/>
            <a:ext cx="4846320" cy="34747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800" b="1">
                <a:solidFill>
                  <a:srgbClr val="142444"/>
                </a:solidFill>
                <a:latin typeface="Aptos"/>
              </a:rPr>
              <a:t>Spanning tree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929384"/>
            <a:ext cx="4846320" cy="111556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400" b="0">
                <a:solidFill>
                  <a:srgbClr val="26303F"/>
                </a:solidFill>
                <a:latin typeface="Aptos"/>
              </a:rPr>
              <a:t>A set of edges that connects every vertex in a connected, undirected graph without creating a cycle.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82296" cy="1828800"/>
          </a:xfrm>
          <a:prstGeom prst="rect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490472"/>
            <a:ext cx="4846320" cy="34747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800" b="1">
                <a:solidFill>
                  <a:srgbClr val="142444"/>
                </a:solidFill>
                <a:latin typeface="Aptos"/>
              </a:rPr>
              <a:t>Minimum spanning tree (MST)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1929384"/>
            <a:ext cx="4846320" cy="111556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400" b="0">
                <a:solidFill>
                  <a:srgbClr val="26303F"/>
                </a:solidFill>
                <a:latin typeface="Aptos"/>
              </a:rPr>
              <a:t>A spanning tree whose total edge weight is as small as possible.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57600"/>
            <a:ext cx="2743200" cy="36576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2100" b="1">
                <a:solidFill>
                  <a:srgbClr val="142444"/>
                </a:solidFill>
                <a:latin typeface="Aptos"/>
              </a:rPr>
              <a:t>Key properties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14800"/>
            <a:ext cx="10424160" cy="1645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6303F"/>
                </a:solidFill>
                <a:latin typeface="Aptos"/>
              </a:defRPr>
            </a:pPr>
            <a:r>
              <a:t>For V vertices, an MST contains exactly V − 1 edges.</a:t>
            </a:r>
          </a:p>
          <a:p>
            <a:pPr>
              <a:spcAft>
                <a:spcPts val="900"/>
              </a:spcAft>
              <a:defRPr sz="1800">
                <a:solidFill>
                  <a:srgbClr val="26303F"/>
                </a:solidFill>
                <a:latin typeface="Aptos"/>
              </a:defRPr>
            </a:pPr>
            <a:r>
              <a:t>It connects all vertices and contains no cycles.</a:t>
            </a:r>
          </a:p>
          <a:p>
            <a:pPr>
              <a:spcAft>
                <a:spcPts val="900"/>
              </a:spcAft>
              <a:defRPr sz="1800">
                <a:solidFill>
                  <a:srgbClr val="26303F"/>
                </a:solidFill>
                <a:latin typeface="Aptos"/>
              </a:defRPr>
            </a:pPr>
            <a:r>
              <a:t>There may be more than one MST if edge weights tie.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2800" b="1">
                <a:solidFill>
                  <a:srgbClr val="142444"/>
                </a:solidFill>
                <a:latin typeface="Aptos"/>
              </a:rPr>
              <a:t>How Prim’s Algorithm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50976"/>
            <a:ext cx="1143000" cy="54864"/>
          </a:xfrm>
          <a:prstGeom prst="rect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329184"/>
            <a:ext cx="502920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/>
            <a:r>
              <a:rPr sz="1300" b="1">
                <a:solidFill>
                  <a:srgbClr val="5F6C7D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900" b="1">
                <a:solidFill>
                  <a:srgbClr val="5F6C7D"/>
                </a:solidFill>
                <a:latin typeface="Aptos"/>
              </a:rPr>
              <a:t>PRIM'S ALGORITHM  •  MINIMUM SPANNING TREE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298448"/>
            <a:ext cx="502920" cy="502920"/>
          </a:xfrm>
          <a:prstGeom prst="ellipse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62456"/>
            <a:ext cx="50292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316736"/>
            <a:ext cx="1417320" cy="29260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800" b="1">
                <a:solidFill>
                  <a:srgbClr val="142444"/>
                </a:solidFill>
                <a:latin typeface="Aptos"/>
              </a:rP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316736"/>
            <a:ext cx="804672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600" b="0">
                <a:solidFill>
                  <a:srgbClr val="26303F"/>
                </a:solidFill>
                <a:latin typeface="Aptos"/>
              </a:rPr>
              <a:t>Choose vertex 0 as the starting point.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249424"/>
            <a:ext cx="502920" cy="502920"/>
          </a:xfrm>
          <a:prstGeom prst="ellipse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13432"/>
            <a:ext cx="50292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267712"/>
            <a:ext cx="1417320" cy="29260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800" b="1">
                <a:solidFill>
                  <a:srgbClr val="142444"/>
                </a:solidFill>
                <a:latin typeface="Aptos"/>
              </a:rPr>
              <a:t>Select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267712"/>
            <a:ext cx="804672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600" b="0">
                <a:solidFill>
                  <a:srgbClr val="26303F"/>
                </a:solidFill>
                <a:latin typeface="Aptos"/>
              </a:rPr>
              <a:t>Choose the lowest-weight edge connecting the current tree to a vertex outside it.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200400"/>
            <a:ext cx="502920" cy="502920"/>
          </a:xfrm>
          <a:prstGeom prst="ellipse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264408"/>
            <a:ext cx="50292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218688"/>
            <a:ext cx="1417320" cy="29260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800" b="1">
                <a:solidFill>
                  <a:srgbClr val="142444"/>
                </a:solidFill>
                <a:latin typeface="Aptos"/>
              </a:rPr>
              <a:t>Add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3218688"/>
            <a:ext cx="804672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600" b="0">
                <a:solidFill>
                  <a:srgbClr val="26303F"/>
                </a:solidFill>
                <a:latin typeface="Aptos"/>
              </a:rPr>
              <a:t>Include that vertex and edge in the MST.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151376"/>
            <a:ext cx="502920" cy="502920"/>
          </a:xfrm>
          <a:prstGeom prst="ellipse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215384"/>
            <a:ext cx="50292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169663"/>
            <a:ext cx="1417320" cy="29260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800" b="1">
                <a:solidFill>
                  <a:srgbClr val="142444"/>
                </a:solidFill>
                <a:latin typeface="Aptos"/>
              </a:rPr>
              <a:t>Update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4169663"/>
            <a:ext cx="804672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600" b="0">
                <a:solidFill>
                  <a:srgbClr val="26303F"/>
                </a:solidFill>
                <a:latin typeface="Aptos"/>
              </a:rPr>
              <a:t>Update the best known connection (key) for neighboring vertices.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5102352"/>
            <a:ext cx="502920" cy="502920"/>
          </a:xfrm>
          <a:prstGeom prst="ellipse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166360"/>
            <a:ext cx="50292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120640"/>
            <a:ext cx="1417320" cy="29260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800" b="1">
                <a:solidFill>
                  <a:srgbClr val="142444"/>
                </a:solidFill>
                <a:latin typeface="Aptos"/>
              </a:rPr>
              <a:t>Repeat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5120640"/>
            <a:ext cx="804672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600" b="0">
                <a:solidFill>
                  <a:srgbClr val="26303F"/>
                </a:solidFill>
                <a:latin typeface="Aptos"/>
              </a:rPr>
              <a:t>Continue until every vertex is included.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2800" b="1">
                <a:solidFill>
                  <a:srgbClr val="142444"/>
                </a:solidFill>
                <a:latin typeface="Aptos"/>
              </a:rPr>
              <a:t>The Example 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50976"/>
            <a:ext cx="1143000" cy="54864"/>
          </a:xfrm>
          <a:prstGeom prst="rect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329184"/>
            <a:ext cx="502920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/>
            <a:r>
              <a:rPr sz="1300" b="1">
                <a:solidFill>
                  <a:srgbClr val="5F6C7D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900" b="1">
                <a:solidFill>
                  <a:srgbClr val="5F6C7D"/>
                </a:solidFill>
                <a:latin typeface="Aptos"/>
              </a:rPr>
              <a:t>PRIM'S ALGORITHM  •  MINIMUM SPANNING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07040" cy="5486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700" b="0">
                <a:solidFill>
                  <a:srgbClr val="26303F"/>
                </a:solidFill>
                <a:latin typeface="Aptos"/>
              </a:rPr>
              <a:t>The sample input contains 5 vertices (0–4). Each non-zero matrix value represents an edge weight.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76272" y="2999232"/>
            <a:ext cx="1828800" cy="1463040"/>
          </a:xfrm>
          <a:prstGeom prst="line">
            <a:avLst/>
          </a:prstGeom>
          <a:ln w="25400">
            <a:solidFill>
              <a:srgbClr val="5F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971799" y="3337560"/>
            <a:ext cx="41148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1600" b="1">
                <a:solidFill>
                  <a:srgbClr val="142444"/>
                </a:solidFill>
                <a:latin typeface="Aptos"/>
              </a:rPr>
              <a:t>4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4005072" y="2267712"/>
            <a:ext cx="822960" cy="2194560"/>
          </a:xfrm>
          <a:prstGeom prst="line">
            <a:avLst/>
          </a:prstGeom>
          <a:ln w="25400">
            <a:solidFill>
              <a:srgbClr val="5F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297680" y="2971800"/>
            <a:ext cx="41148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1600" b="1">
                <a:solidFill>
                  <a:srgbClr val="142444"/>
                </a:solidFill>
                <a:latin typeface="Aptos"/>
              </a:rPr>
              <a:t>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28032" y="2267712"/>
            <a:ext cx="2834639" cy="548640"/>
          </a:xfrm>
          <a:prstGeom prst="line">
            <a:avLst/>
          </a:prstGeom>
          <a:ln w="25400">
            <a:solidFill>
              <a:srgbClr val="5F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0" y="2148840"/>
            <a:ext cx="41148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1600" b="1">
                <a:solidFill>
                  <a:srgbClr val="142444"/>
                </a:solidFill>
                <a:latin typeface="Aptos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62671" y="2816352"/>
            <a:ext cx="2194561" cy="1371600"/>
          </a:xfrm>
          <a:prstGeom prst="line">
            <a:avLst/>
          </a:prstGeom>
          <a:ln w="25400">
            <a:solidFill>
              <a:srgbClr val="5F6C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41080" y="3108960"/>
            <a:ext cx="411480" cy="2743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1600" b="1">
                <a:solidFill>
                  <a:srgbClr val="142444"/>
                </a:solidFill>
                <a:latin typeface="Aptos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1920240" y="2743200"/>
            <a:ext cx="530352" cy="530352"/>
          </a:xfrm>
          <a:prstGeom prst="ellipse">
            <a:avLst/>
          </a:prstGeom>
          <a:solidFill>
            <a:srgbClr val="14969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2816352"/>
            <a:ext cx="530352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0" y="2011680"/>
            <a:ext cx="530352" cy="530352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2084832"/>
            <a:ext cx="530352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9" name="Oval 18"/>
          <p:cNvSpPr/>
          <p:nvPr/>
        </p:nvSpPr>
        <p:spPr>
          <a:xfrm>
            <a:off x="3749039" y="4206240"/>
            <a:ext cx="530352" cy="530352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39" y="4279392"/>
            <a:ext cx="530352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7406640" y="2560320"/>
            <a:ext cx="530352" cy="530352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2633472"/>
            <a:ext cx="530352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Oval 22"/>
          <p:cNvSpPr/>
          <p:nvPr/>
        </p:nvSpPr>
        <p:spPr>
          <a:xfrm>
            <a:off x="9601200" y="3931920"/>
            <a:ext cx="530352" cy="530352"/>
          </a:xfrm>
          <a:prstGeom prst="ellipse">
            <a:avLst/>
          </a:prstGeom>
          <a:solidFill>
            <a:srgbClr val="2A5CA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4005072"/>
            <a:ext cx="530352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57800"/>
            <a:ext cx="9966960" cy="36576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1700" b="1">
                <a:solidFill>
                  <a:srgbClr val="142444"/>
                </a:solidFill>
                <a:latin typeface="Aptos"/>
              </a:rPr>
              <a:t>Edges: (0,2)=4, (1,2)=5, (1,3)=3, (3,4)=2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715000"/>
            <a:ext cx="9966960" cy="36576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1500" b="0">
                <a:solidFill>
                  <a:srgbClr val="5F6C7D"/>
                </a:solidFill>
                <a:latin typeface="Aptos"/>
              </a:rPr>
              <a:t>The graph is connected; Prim’s algorithm starts at vertex 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2800" b="1">
                <a:solidFill>
                  <a:srgbClr val="142444"/>
                </a:solidFill>
                <a:latin typeface="Aptos"/>
              </a:rPr>
              <a:t>Adjacency Matrix Representation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50976"/>
            <a:ext cx="1143000" cy="54864"/>
          </a:xfrm>
          <a:prstGeom prst="rect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329184"/>
            <a:ext cx="502920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/>
            <a:r>
              <a:rPr sz="1300" b="1">
                <a:solidFill>
                  <a:srgbClr val="5F6C7D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900" b="1">
                <a:solidFill>
                  <a:srgbClr val="5F6C7D"/>
                </a:solidFill>
                <a:latin typeface="Aptos"/>
              </a:rPr>
              <a:t>PRIM'S ALGORITHM  •  MINIMUM SPANNING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828800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2000" b="1">
                <a:solidFill>
                  <a:srgbClr val="142444"/>
                </a:solidFill>
                <a:latin typeface="Aptos"/>
              </a:rPr>
              <a:t>Input matrix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783080"/>
          <a:ext cx="48463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264"/>
                <a:gridCol w="969264"/>
                <a:gridCol w="969264"/>
                <a:gridCol w="969264"/>
                <a:gridCol w="969264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4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4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4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444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4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4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4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4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4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444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444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4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444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444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4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4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4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4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4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444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4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4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4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444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4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4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4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444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00" b="1">
                          <a:solidFill>
                            <a:srgbClr val="142444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E4F1F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17920" y="1600200"/>
            <a:ext cx="4937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600200"/>
            <a:ext cx="82296" cy="1143000"/>
          </a:xfrm>
          <a:prstGeom prst="rect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764792"/>
            <a:ext cx="4572000" cy="34747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800" b="1">
                <a:solidFill>
                  <a:srgbClr val="142444"/>
                </a:solidFill>
                <a:latin typeface="Aptos"/>
              </a:rPr>
              <a:t>Non-zero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203704"/>
            <a:ext cx="4572000" cy="42976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400" b="0">
                <a:solidFill>
                  <a:srgbClr val="26303F"/>
                </a:solidFill>
                <a:latin typeface="Aptos"/>
              </a:rPr>
              <a:t>An edge exists; the value is its weight.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971800"/>
            <a:ext cx="4937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2971800"/>
            <a:ext cx="82296" cy="114300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3136392"/>
            <a:ext cx="4572000" cy="34747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800" b="1">
                <a:solidFill>
                  <a:srgbClr val="142444"/>
                </a:solidFill>
                <a:latin typeface="Aptos"/>
              </a:rPr>
              <a:t>Zero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575304"/>
            <a:ext cx="4572000" cy="42976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400" b="0">
                <a:solidFill>
                  <a:srgbClr val="26303F"/>
                </a:solidFill>
                <a:latin typeface="Aptos"/>
              </a:rPr>
              <a:t>No edge between those vertices (in this problem).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343400"/>
            <a:ext cx="4937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4343400"/>
            <a:ext cx="82296" cy="1143000"/>
          </a:xfrm>
          <a:prstGeom prst="rect">
            <a:avLst/>
          </a:prstGeom>
          <a:solidFill>
            <a:srgbClr val="F5B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4507992"/>
            <a:ext cx="4572000" cy="34747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800" b="1">
                <a:solidFill>
                  <a:srgbClr val="142444"/>
                </a:solidFill>
                <a:latin typeface="Aptos"/>
              </a:rPr>
              <a:t>Symmetry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4946904"/>
            <a:ext cx="4572000" cy="42976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400" b="0">
                <a:solidFill>
                  <a:srgbClr val="26303F"/>
                </a:solidFill>
                <a:latin typeface="Aptos"/>
              </a:rPr>
              <a:t>For an undirected graph, matrix[i][j] = matrix[j][i].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2800" b="1">
                <a:solidFill>
                  <a:srgbClr val="142444"/>
                </a:solidFill>
                <a:latin typeface="Aptos"/>
              </a:rPr>
              <a:t>Important Arrays in the C Program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50976"/>
            <a:ext cx="1143000" cy="54864"/>
          </a:xfrm>
          <a:prstGeom prst="rect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329184"/>
            <a:ext cx="502920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/>
            <a:r>
              <a:rPr sz="1300" b="1">
                <a:solidFill>
                  <a:srgbClr val="5F6C7D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900" b="1">
                <a:solidFill>
                  <a:srgbClr val="5F6C7D"/>
                </a:solidFill>
                <a:latin typeface="Aptos"/>
              </a:rPr>
              <a:t>PRIM'S ALGORITHM  •  MINIMUM SPANNING TREE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82296" cy="1828800"/>
          </a:xfrm>
          <a:prstGeom prst="rect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490472"/>
            <a:ext cx="3108960" cy="34747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800" b="1">
                <a:solidFill>
                  <a:srgbClr val="142444"/>
                </a:solidFill>
                <a:latin typeface="Aptos"/>
              </a:rPr>
              <a:t>key[]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29384"/>
            <a:ext cx="3108960" cy="111556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400" b="0">
                <a:solidFill>
                  <a:srgbClr val="26303F"/>
                </a:solidFill>
                <a:latin typeface="Aptos"/>
              </a:rPr>
              <a:t>Stores the cheapest known edge weight that can connect each vertex to the current MST.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82296" cy="182880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490472"/>
            <a:ext cx="3108960" cy="34747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800" b="1">
                <a:solidFill>
                  <a:srgbClr val="142444"/>
                </a:solidFill>
                <a:latin typeface="Aptos"/>
              </a:rPr>
              <a:t>mstSet[]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929384"/>
            <a:ext cx="3108960" cy="111556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400" b="0">
                <a:solidFill>
                  <a:srgbClr val="26303F"/>
                </a:solidFill>
                <a:latin typeface="Aptos"/>
              </a:rPr>
              <a:t>Boolean array: true if a vertex is already included in the MST; otherwise false.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25880"/>
            <a:ext cx="82296" cy="1828800"/>
          </a:xfrm>
          <a:prstGeom prst="rect">
            <a:avLst/>
          </a:prstGeom>
          <a:solidFill>
            <a:srgbClr val="F5B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490472"/>
            <a:ext cx="3108960" cy="34747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800" b="1">
                <a:solidFill>
                  <a:srgbClr val="142444"/>
                </a:solidFill>
                <a:latin typeface="Aptos"/>
              </a:rPr>
              <a:t>parent[]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929384"/>
            <a:ext cx="3108960" cy="1115568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400" b="0">
                <a:solidFill>
                  <a:srgbClr val="26303F"/>
                </a:solidFill>
                <a:latin typeface="Aptos"/>
              </a:rPr>
              <a:t>Stores the parent vertex used to print each MST edge.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03320"/>
            <a:ext cx="1828800" cy="36576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2100" b="1">
                <a:solidFill>
                  <a:srgbClr val="142444"/>
                </a:solidFill>
                <a:latin typeface="Aptos"/>
              </a:rPr>
              <a:t>Initialization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160520"/>
            <a:ext cx="10515600" cy="1645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6303F"/>
                </a:solidFill>
                <a:latin typeface="Aptos"/>
              </a:defRPr>
            </a:pPr>
            <a:r>
              <a:t>Set every key to INT_MAX and every mstSet entry to false.</a:t>
            </a:r>
          </a:p>
          <a:p>
            <a:pPr>
              <a:spcAft>
                <a:spcPts val="900"/>
              </a:spcAft>
              <a:defRPr sz="1700">
                <a:solidFill>
                  <a:srgbClr val="26303F"/>
                </a:solidFill>
                <a:latin typeface="Aptos"/>
              </a:defRPr>
            </a:pPr>
            <a:r>
              <a:t>Set key[0] = 0 so vertex 0 is selected first.</a:t>
            </a:r>
          </a:p>
          <a:p>
            <a:pPr>
              <a:spcAft>
                <a:spcPts val="900"/>
              </a:spcAft>
              <a:defRPr sz="1700">
                <a:solidFill>
                  <a:srgbClr val="26303F"/>
                </a:solidFill>
                <a:latin typeface="Aptos"/>
              </a:defRPr>
            </a:pPr>
            <a:r>
              <a:t>Set parent[0] = −1 because the starting vertex has no parent.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2800" b="1">
                <a:solidFill>
                  <a:srgbClr val="142444"/>
                </a:solidFill>
                <a:latin typeface="Aptos"/>
              </a:rPr>
              <a:t>Function 1: minKey()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50976"/>
            <a:ext cx="1143000" cy="54864"/>
          </a:xfrm>
          <a:prstGeom prst="rect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329184"/>
            <a:ext cx="502920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/>
            <a:r>
              <a:rPr sz="1300" b="1">
                <a:solidFill>
                  <a:srgbClr val="5F6C7D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900" b="1">
                <a:solidFill>
                  <a:srgbClr val="5F6C7D"/>
                </a:solidFill>
                <a:latin typeface="Aptos"/>
              </a:rPr>
              <a:t>PRIM'S ALGORITHM  •  MINIMUM SPANNING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88720"/>
            <a:ext cx="10607040" cy="4114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800" b="0">
                <a:solidFill>
                  <a:srgbClr val="26303F"/>
                </a:solidFill>
                <a:latin typeface="Aptos"/>
              </a:rPr>
              <a:t>Purpose: select the unvisited vertex with the smallest key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6583680" cy="4023360"/>
          </a:xfrm>
          <a:prstGeom prst="roundRect">
            <a:avLst/>
          </a:prstGeom>
          <a:solidFill>
            <a:srgbClr val="14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93392"/>
            <a:ext cx="6172200" cy="3611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int minKey(int key[], bool mstSet[], int vertices) {
    int min = INT_MAX, min_index = -1;
    for (int v = 0; v &lt; vertices; v++) {
        if (mstSet[v] == false &amp;&amp; key[v] &lt; min) {
            min = key[v];
            min_index = v;
        }
    }
    return min_index;
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82880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26679" y="1828800"/>
            <a:ext cx="82296" cy="1325880"/>
          </a:xfrm>
          <a:prstGeom prst="rect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7848" y="1993392"/>
            <a:ext cx="3108960" cy="34747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800" b="1">
                <a:solidFill>
                  <a:srgbClr val="142444"/>
                </a:solidFill>
                <a:latin typeface="Aptos"/>
              </a:rPr>
              <a:t>Why skip mstSet[v] == true?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7848" y="2432304"/>
            <a:ext cx="3108960" cy="612647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400" b="0">
                <a:solidFill>
                  <a:srgbClr val="26303F"/>
                </a:solidFill>
                <a:latin typeface="Aptos"/>
              </a:rPr>
              <a:t>That vertex is already in the tree and must not be selected again.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342900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26679" y="3429000"/>
            <a:ext cx="82296" cy="1325880"/>
          </a:xfrm>
          <a:prstGeom prst="rect">
            <a:avLst/>
          </a:prstGeom>
          <a:solidFill>
            <a:srgbClr val="F5B4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7848" y="3593592"/>
            <a:ext cx="3108960" cy="34747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800" b="1">
                <a:solidFill>
                  <a:srgbClr val="142444"/>
                </a:solidFill>
                <a:latin typeface="Aptos"/>
              </a:rPr>
              <a:t>Why min_index = −1?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8" y="4032504"/>
            <a:ext cx="3108960" cy="612647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400" b="0">
                <a:solidFill>
                  <a:srgbClr val="26303F"/>
                </a:solidFill>
                <a:latin typeface="Aptos"/>
              </a:rPr>
              <a:t>It provides a safe fallback if no eligible vertex is found.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2800" b="1">
                <a:solidFill>
                  <a:srgbClr val="142444"/>
                </a:solidFill>
                <a:latin typeface="Aptos"/>
              </a:rPr>
              <a:t>Function 2: prim()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50976"/>
            <a:ext cx="1143000" cy="54864"/>
          </a:xfrm>
          <a:prstGeom prst="rect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329184"/>
            <a:ext cx="502920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/>
            <a:r>
              <a:rPr sz="1300" b="1">
                <a:solidFill>
                  <a:srgbClr val="5F6C7D"/>
                </a:solidFill>
                <a:latin typeface="Apto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900" b="1">
                <a:solidFill>
                  <a:srgbClr val="5F6C7D"/>
                </a:solidFill>
                <a:latin typeface="Aptos"/>
              </a:rPr>
              <a:t>PRIM'S ALGORITHM  •  MINIMUM SPANNING TREE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7498079" cy="4983480"/>
          </a:xfrm>
          <a:prstGeom prst="roundRect">
            <a:avLst/>
          </a:prstGeom>
          <a:solidFill>
            <a:srgbClr val="14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7086600" cy="45720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onsolas"/>
              </a:rPr>
              <a:t>key[0] = 0;
parent[0] = -1;
for (int count = 0; count &lt; vertices - 1; count++) {
    int u = minKey(key, mstSet, vertices);
    if (u == -1) return;
    mstSet[u] = true;
    for (int v = 0; v &lt; vertices; v++) {
        if (graph[u][v] != 0 &amp;&amp;
            mstSet[v] == false &amp;&amp;
            graph[u][v] &lt; key[v]) {
            parent[v] = u;
            key[v] = graph[u][v];
        }
    }
}
printTree(parent, graph, vertices);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1417320"/>
            <a:ext cx="2743200" cy="36576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2000" b="1">
                <a:solidFill>
                  <a:srgbClr val="142444"/>
                </a:solidFill>
                <a:latin typeface="Aptos"/>
              </a:rPr>
              <a:t>Logic to remember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920240"/>
            <a:ext cx="3063240" cy="34747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t>Pick the minimum-key vertex.</a:t>
            </a:r>
          </a:p>
          <a:p>
            <a:pPr>
              <a:spcAft>
                <a:spcPts val="10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t>Mark it as included.</a:t>
            </a:r>
          </a:p>
          <a:p>
            <a:pPr>
              <a:spcAft>
                <a:spcPts val="10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t>Check every possible neighbor.</a:t>
            </a:r>
          </a:p>
          <a:p>
            <a:pPr>
              <a:spcAft>
                <a:spcPts val="10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t>If an edge is cheaper, update key[] and parent[].</a:t>
            </a:r>
          </a:p>
          <a:p>
            <a:pPr>
              <a:spcAft>
                <a:spcPts val="1000"/>
              </a:spcAft>
              <a:defRPr sz="1500">
                <a:solidFill>
                  <a:srgbClr val="26303F"/>
                </a:solidFill>
                <a:latin typeface="Aptos"/>
              </a:defRPr>
            </a:pPr>
            <a:r>
              <a:t>Print parent-child edges at the end.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2800" b="1">
                <a:solidFill>
                  <a:srgbClr val="142444"/>
                </a:solidFill>
                <a:latin typeface="Aptos"/>
              </a:rPr>
              <a:t>Dry Run: Building the MST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50976"/>
            <a:ext cx="1143000" cy="54864"/>
          </a:xfrm>
          <a:prstGeom prst="rect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329184"/>
            <a:ext cx="502920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/>
            <a:r>
              <a:rPr sz="1300" b="1">
                <a:solidFill>
                  <a:srgbClr val="5F6C7D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900" b="1">
                <a:solidFill>
                  <a:srgbClr val="5F6C7D"/>
                </a:solidFill>
                <a:latin typeface="Aptos"/>
              </a:rPr>
              <a:t>PRIM'S ALGORITHM  •  MINIMUM SPANNING TREE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417320"/>
          <a:ext cx="108356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828800"/>
                <a:gridCol w="1097280"/>
                <a:gridCol w="6995160"/>
              </a:tblGrid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Step</a:t>
                      </a:r>
                    </a:p>
                  </a:txBody>
                  <a:tcPr>
                    <a:solidFill>
                      <a:srgbClr val="1424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Chosen edge</a:t>
                      </a:r>
                    </a:p>
                  </a:txBody>
                  <a:tcPr>
                    <a:solidFill>
                      <a:srgbClr val="1424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>
                    <a:solidFill>
                      <a:srgbClr val="142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Reason</a:t>
                      </a:r>
                    </a:p>
                  </a:txBody>
                  <a:tcPr>
                    <a:solidFill>
                      <a:srgbClr val="142444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303F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>
                    <a:solidFill>
                      <a:srgbClr val="E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6303F"/>
                          </a:solidFill>
                          <a:latin typeface="Aptos"/>
                        </a:rPr>
                        <a:t>0 → 2</a:t>
                      </a:r>
                    </a:p>
                  </a:txBody>
                  <a:tcPr>
                    <a:solidFill>
                      <a:srgbClr val="E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303F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>
                    <a:solidFill>
                      <a:srgbClr val="E2F2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303F"/>
                          </a:solidFill>
                          <a:latin typeface="Aptos"/>
                        </a:rPr>
                        <a:t>Only available edge from vertex 0</a:t>
                      </a:r>
                    </a:p>
                  </a:txBody>
                  <a:tcPr>
                    <a:solidFill>
                      <a:srgbClr val="E2F2F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303F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6303F"/>
                          </a:solidFill>
                          <a:latin typeface="Aptos"/>
                        </a:rPr>
                        <a:t>2 →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303F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303F"/>
                          </a:solidFill>
                          <a:latin typeface="Aptos"/>
                        </a:rPr>
                        <a:t>Connects vertex 1 to the 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303F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>
                    <a:solidFill>
                      <a:srgbClr val="E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6303F"/>
                          </a:solidFill>
                          <a:latin typeface="Aptos"/>
                        </a:rPr>
                        <a:t>1 → 3</a:t>
                      </a:r>
                    </a:p>
                  </a:txBody>
                  <a:tcPr>
                    <a:solidFill>
                      <a:srgbClr val="E2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303F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>
                    <a:solidFill>
                      <a:srgbClr val="E2F2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303F"/>
                          </a:solidFill>
                          <a:latin typeface="Aptos"/>
                        </a:rPr>
                        <a:t>Cheapest edge from the current tree to 3</a:t>
                      </a:r>
                    </a:p>
                  </a:txBody>
                  <a:tcPr>
                    <a:solidFill>
                      <a:srgbClr val="E2F2F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303F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26303F"/>
                          </a:solidFill>
                          <a:latin typeface="Aptos"/>
                        </a:rPr>
                        <a:t>3 →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6303F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303F"/>
                          </a:solidFill>
                          <a:latin typeface="Aptos"/>
                        </a:rPr>
                        <a:t>Adds the last vertex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349240"/>
            <a:ext cx="1060704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1700" b="1">
                <a:solidFill>
                  <a:srgbClr val="142444"/>
                </a:solidFill>
                <a:latin typeface="Aptos"/>
              </a:rPr>
              <a:t>MST edges in output order: 2 - 1 (5), 0 - 2 (4), 1 - 3 (3), 3 - 4 (2)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52160"/>
            <a:ext cx="10607040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ctr"/>
            <a:r>
              <a:rPr sz="1800" b="1">
                <a:solidFill>
                  <a:srgbClr val="149691"/>
                </a:solidFill>
                <a:latin typeface="Aptos"/>
              </a:rPr>
              <a:t>Total MST weight = 5 + 4 + 3 + 2 =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2800" b="1">
                <a:solidFill>
                  <a:srgbClr val="142444"/>
                </a:solidFill>
                <a:latin typeface="Aptos"/>
              </a:rPr>
              <a:t>Sample Input and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50976"/>
            <a:ext cx="1143000" cy="54864"/>
          </a:xfrm>
          <a:prstGeom prst="rect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329184"/>
            <a:ext cx="502920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/>
            <a:r>
              <a:rPr sz="1300" b="1">
                <a:solidFill>
                  <a:srgbClr val="5F6C7D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900" b="1">
                <a:solidFill>
                  <a:srgbClr val="5F6C7D"/>
                </a:solidFill>
                <a:latin typeface="Aptos"/>
              </a:rPr>
              <a:t>PRIM'S ALGORITHM  •  MINIMUM SPANNING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34440"/>
            <a:ext cx="1097280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2000" b="1">
                <a:solidFill>
                  <a:srgbClr val="142444"/>
                </a:solidFill>
                <a:latin typeface="Aptos"/>
              </a:rPr>
              <a:t>Input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45920"/>
            <a:ext cx="48006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74519"/>
            <a:ext cx="4297680" cy="36576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800" b="0">
                <a:solidFill>
                  <a:srgbClr val="26303F"/>
                </a:solidFill>
                <a:latin typeface="Consolas"/>
              </a:rPr>
              <a:t>5
0 0 4 0 0
0 0 5 3 0
4 5 0 0 0
0 3 0 0 2
0 0 0 2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234440"/>
            <a:ext cx="1371600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2000" b="1">
                <a:solidFill>
                  <a:srgbClr val="142444"/>
                </a:solidFill>
                <a:latin typeface="Aptos"/>
              </a:rPr>
              <a:t>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645920"/>
            <a:ext cx="5257800" cy="2743200"/>
          </a:xfrm>
          <a:prstGeom prst="roundRect">
            <a:avLst/>
          </a:prstGeom>
          <a:solidFill>
            <a:srgbClr val="14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874519"/>
            <a:ext cx="4663440" cy="228600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Consolas"/>
              </a:rPr>
              <a:t>Edge    Weight
2 - 1   5
0 - 2   4
1 - 3   3
3 - 4  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4754880"/>
            <a:ext cx="4389120" cy="4114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2100" b="1">
                <a:solidFill>
                  <a:srgbClr val="149691"/>
                </a:solidFill>
                <a:latin typeface="Aptos"/>
              </a:rPr>
              <a:t>Total weight =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2800" b="1">
                <a:solidFill>
                  <a:srgbClr val="142444"/>
                </a:solidFill>
                <a:latin typeface="Aptos"/>
              </a:rPr>
              <a:t>Complexity and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50976"/>
            <a:ext cx="1143000" cy="54864"/>
          </a:xfrm>
          <a:prstGeom prst="rect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09960" y="329184"/>
            <a:ext cx="502920" cy="32004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/>
            <a:r>
              <a:rPr sz="1300" b="1">
                <a:solidFill>
                  <a:srgbClr val="5F6C7D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510528"/>
            <a:ext cx="7315200" cy="1828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900" b="1">
                <a:solidFill>
                  <a:srgbClr val="5F6C7D"/>
                </a:solidFill>
                <a:latin typeface="Aptos"/>
              </a:rPr>
              <a:t>PRIM'S ALGORITHM  •  MINIMUM SPANNING TREE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71600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371600"/>
            <a:ext cx="82296" cy="1554480"/>
          </a:xfrm>
          <a:prstGeom prst="rect">
            <a:avLst/>
          </a:prstGeom>
          <a:solidFill>
            <a:srgbClr val="2A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536192"/>
            <a:ext cx="4709159" cy="34747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800" b="1">
                <a:solidFill>
                  <a:srgbClr val="142444"/>
                </a:solidFill>
                <a:latin typeface="Aptos"/>
              </a:rPr>
              <a:t>Time complexity: O(V²)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975104"/>
            <a:ext cx="4709159" cy="841247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400" b="0">
                <a:solidFill>
                  <a:srgbClr val="26303F"/>
                </a:solidFill>
                <a:latin typeface="Aptos"/>
              </a:rPr>
              <a:t>Using an adjacency matrix and a linear scan in minKey() to find the next vertex.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0749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71600"/>
            <a:ext cx="82296" cy="1554480"/>
          </a:xfrm>
          <a:prstGeom prst="rect">
            <a:avLst/>
          </a:prstGeom>
          <a:solidFill>
            <a:srgbClr val="14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536192"/>
            <a:ext cx="4709159" cy="347472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800" b="1">
                <a:solidFill>
                  <a:srgbClr val="142444"/>
                </a:solidFill>
                <a:latin typeface="Aptos"/>
              </a:rPr>
              <a:t>Space complexity: O(V²)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1975104"/>
            <a:ext cx="4709159" cy="841247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1400" b="0">
                <a:solidFill>
                  <a:srgbClr val="26303F"/>
                </a:solidFill>
                <a:latin typeface="Aptos"/>
              </a:rPr>
              <a:t>The graph matrix uses O(V²) space; the parent, key, and mstSet arrays use O(V).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474720"/>
            <a:ext cx="2926080" cy="36576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2100" b="1">
                <a:solidFill>
                  <a:srgbClr val="142444"/>
                </a:solidFill>
                <a:latin typeface="Aptos"/>
              </a:rPr>
              <a:t>Implementation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931920"/>
            <a:ext cx="10424160" cy="1737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6303F"/>
                </a:solidFill>
                <a:latin typeface="Aptos"/>
              </a:defRPr>
            </a:pPr>
            <a:r>
              <a:t>A connected graph is required for a full MST.</a:t>
            </a:r>
          </a:p>
          <a:p>
            <a:pPr>
              <a:spcAft>
                <a:spcPts val="900"/>
              </a:spcAft>
              <a:defRPr sz="1700">
                <a:solidFill>
                  <a:srgbClr val="26303F"/>
                </a:solidFill>
                <a:latin typeface="Aptos"/>
              </a:defRPr>
            </a:pPr>
            <a:r>
              <a:t>This program uses 0 to mean “no edge,” so zero-weight edges cannot be represented.</a:t>
            </a:r>
          </a:p>
          <a:p>
            <a:pPr>
              <a:spcAft>
                <a:spcPts val="900"/>
              </a:spcAft>
              <a:defRPr sz="1700">
                <a:solidFill>
                  <a:srgbClr val="26303F"/>
                </a:solidFill>
                <a:latin typeface="Aptos"/>
              </a:defRPr>
            </a:pPr>
            <a:r>
              <a:t>The adjacency matrix should be symmetric for an undirected graph.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4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94360"/>
            <a:ext cx="4572000" cy="59436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Quick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00200"/>
            <a:ext cx="10241280" cy="34747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Prim’s algorithm grows one tree, starting at vertex 0.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minKey() chooses the unvisited vertex with the smallest key.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prim() updates key[] and parent[] whenever it finds a cheaper connection.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An MST for V vertices has V − 1 edges.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For this adjacency-matrix implementation: O(V²)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669280"/>
            <a:ext cx="3200400" cy="50292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l"/>
            <a:r>
              <a:rPr sz="2500" b="1">
                <a:solidFill>
                  <a:srgbClr val="BED8F5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5715000"/>
            <a:ext cx="1828800" cy="411480"/>
          </a:xfrm>
          <a:prstGeom prst="rect">
            <a:avLst/>
          </a:prstGeom>
          <a:noFill/>
        </p:spPr>
        <p:txBody>
          <a:bodyPr wrap="square" lIns="54864" rIns="54864" tIns="36576" bIns="27432" anchor="t">
            <a:spAutoFit/>
          </a:bodyPr>
          <a:lstStyle/>
          <a:p>
            <a:pPr algn="r"/>
            <a:r>
              <a:rPr sz="1800" b="1">
                <a:solidFill>
                  <a:srgbClr val="F5B43C"/>
                </a:solidFill>
                <a:latin typeface="Apto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